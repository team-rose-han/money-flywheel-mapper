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9050000" cy="895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33350" y="285750"/>
            <a:ext cx="12382500" cy="666750"/>
          </a:xfrm>
          <a:prstGeom prst="rect">
            <a:avLst/>
          </a:prstGeom>
          <a:noFill/>
        </p:spPr>
        <p:txBody>
          <a:bodyPr wrap="square" anchor="ctr" lIns="95250" rIns="95250" tIns="38100" bIns="38100">
            <a:spAutoFit/>
          </a:bodyPr>
          <a:lstStyle/>
          <a:p>
            <a:pPr algn="l"/>
            <a:r>
              <a:rPr sz="3400" b="1" spc="200">
                <a:solidFill>
                  <a:srgbClr val="141414"/>
                </a:solidFill>
                <a:latin typeface="Poppins"/>
              </a:rPr>
              <a:t>ROSE'S MONEY FLYWHEEL MAP</a:t>
            </a:r>
          </a:p>
        </p:txBody>
      </p:sp>
      <p:sp>
        <p:nvSpPr>
          <p:cNvPr id="3" name="Pill: Your map"/>
          <p:cNvSpPr/>
          <p:nvPr/>
        </p:nvSpPr>
        <p:spPr>
          <a:xfrm>
            <a:off x="17240250" y="314325"/>
            <a:ext cx="1524000" cy="485775"/>
          </a:xfrm>
          <a:prstGeom prst="roundRect">
            <a:avLst>
              <a:gd name="adj" fmla="val 50000"/>
            </a:avLst>
          </a:prstGeom>
          <a:solidFill>
            <a:srgbClr val="D9F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300" b="1" spc="250">
                <a:solidFill>
                  <a:srgbClr val="141414"/>
                </a:solidFill>
                <a:latin typeface="Poppins"/>
              </a:rPr>
              <a:t>YOUR MAP</a:t>
            </a:r>
          </a:p>
        </p:txBody>
      </p:sp>
      <p:sp>
        <p:nvSpPr>
          <p:cNvPr id="4" name="Card: Revenue"/>
          <p:cNvSpPr/>
          <p:nvPr/>
        </p:nvSpPr>
        <p:spPr>
          <a:xfrm>
            <a:off x="628650" y="1428750"/>
            <a:ext cx="2581275" cy="971550"/>
          </a:xfrm>
          <a:prstGeom prst="roundRect">
            <a:avLst>
              <a:gd name="adj" fmla="val 21568"/>
            </a:avLst>
          </a:prstGeom>
          <a:solidFill>
            <a:srgbClr val="0B1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700" b="1" spc="450">
                <a:solidFill>
                  <a:srgbClr val="FFFFFF"/>
                </a:solidFill>
                <a:latin typeface="Poppins"/>
              </a:rPr>
              <a:t>REVENUE</a:t>
            </a:r>
          </a:p>
        </p:txBody>
      </p:sp>
      <p:sp>
        <p:nvSpPr>
          <p:cNvPr id="5" name="Card: Biz Hub"/>
          <p:cNvSpPr/>
          <p:nvPr/>
        </p:nvSpPr>
        <p:spPr>
          <a:xfrm>
            <a:off x="304800" y="3400425"/>
            <a:ext cx="3228975" cy="1409700"/>
          </a:xfrm>
          <a:prstGeom prst="roundRect">
            <a:avLst>
              <a:gd name="adj" fmla="val 14864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BIZ HUB</a:t>
            </a:r>
          </a:p>
        </p:txBody>
      </p:sp>
      <p:sp>
        <p:nvSpPr>
          <p:cNvPr id="6" name="Card: Taxes"/>
          <p:cNvSpPr/>
          <p:nvPr/>
        </p:nvSpPr>
        <p:spPr>
          <a:xfrm>
            <a:off x="304800" y="5819775"/>
            <a:ext cx="3228975" cy="1209675"/>
          </a:xfrm>
          <a:prstGeom prst="roundRect">
            <a:avLst>
              <a:gd name="adj" fmla="val 17322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TAXES</a:t>
            </a:r>
          </a:p>
        </p:txBody>
      </p:sp>
      <p:cxnSp>
        <p:nvCxnSpPr>
          <p:cNvPr id="7" name="Line: Revenue to Biz Hub"/>
          <p:cNvCxnSpPr/>
          <p:nvPr/>
        </p:nvCxnSpPr>
        <p:spPr>
          <a:xfrm>
            <a:off x="1919287" y="2400300"/>
            <a:ext cx="0" cy="1000125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ot: Revenue to Biz Hub"/>
          <p:cNvSpPr/>
          <p:nvPr/>
        </p:nvSpPr>
        <p:spPr>
          <a:xfrm>
            <a:off x="1852612" y="2828925"/>
            <a:ext cx="133350" cy="133350"/>
          </a:xfrm>
          <a:prstGeom prst="ellipse">
            <a:avLst/>
          </a:prstGeom>
          <a:solidFill>
            <a:srgbClr val="1E3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Line: Biz Hub to Taxes"/>
          <p:cNvCxnSpPr/>
          <p:nvPr/>
        </p:nvCxnSpPr>
        <p:spPr>
          <a:xfrm>
            <a:off x="1919287" y="4810125"/>
            <a:ext cx="0" cy="100965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ot: Biz Hub to Taxes"/>
          <p:cNvSpPr/>
          <p:nvPr/>
        </p:nvSpPr>
        <p:spPr>
          <a:xfrm>
            <a:off x="1852612" y="5248275"/>
            <a:ext cx="133350" cy="133350"/>
          </a:xfrm>
          <a:prstGeom prst="ellipse">
            <a:avLst/>
          </a:prstGeom>
          <a:solidFill>
            <a:srgbClr val="1E3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Line: Pay yourself"/>
          <p:cNvCxnSpPr/>
          <p:nvPr/>
        </p:nvCxnSpPr>
        <p:spPr>
          <a:xfrm>
            <a:off x="3533775" y="4105275"/>
            <a:ext cx="6581775" cy="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row: Pay yourself top"/>
          <p:cNvCxnSpPr/>
          <p:nvPr/>
        </p:nvCxnSpPr>
        <p:spPr>
          <a:xfrm>
            <a:off x="9993630" y="3990975"/>
            <a:ext cx="121920" cy="11430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row: Pay yourself bottom"/>
          <p:cNvCxnSpPr/>
          <p:nvPr/>
        </p:nvCxnSpPr>
        <p:spPr>
          <a:xfrm flipV="1">
            <a:off x="9993630" y="4105275"/>
            <a:ext cx="121920" cy="11430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abel: Pay yourself"/>
          <p:cNvSpPr txBox="1"/>
          <p:nvPr/>
        </p:nvSpPr>
        <p:spPr>
          <a:xfrm>
            <a:off x="4914900" y="3695700"/>
            <a:ext cx="3810000" cy="342900"/>
          </a:xfrm>
          <a:prstGeom prst="rect">
            <a:avLst/>
          </a:prstGeom>
          <a:noFill/>
        </p:spPr>
        <p:txBody>
          <a:bodyPr wrap="square" anchor="ctr" lIns="95250" rIns="95250" tIns="38100" bIns="38100">
            <a:spAutoFit/>
          </a:bodyPr>
          <a:lstStyle/>
          <a:p>
            <a:pPr algn="ctr"/>
            <a:r>
              <a:rPr sz="1250" b="1" spc="350">
                <a:solidFill>
                  <a:srgbClr val="1E3AB8"/>
                </a:solidFill>
                <a:latin typeface="Poppins"/>
              </a:rPr>
              <a:t>PAY YOURSELF</a:t>
            </a:r>
          </a:p>
        </p:txBody>
      </p:sp>
      <p:sp>
        <p:nvSpPr>
          <p:cNvPr id="15" name="Card: Personal Hub"/>
          <p:cNvSpPr/>
          <p:nvPr/>
        </p:nvSpPr>
        <p:spPr>
          <a:xfrm>
            <a:off x="10134600" y="3400425"/>
            <a:ext cx="3238500" cy="1409700"/>
          </a:xfrm>
          <a:prstGeom prst="roundRect">
            <a:avLst>
              <a:gd name="adj" fmla="val 14864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PERSONAL HUB</a:t>
            </a:r>
          </a:p>
        </p:txBody>
      </p:sp>
      <p:cxnSp>
        <p:nvCxnSpPr>
          <p:cNvPr id="16" name="Line: Personal Hub down"/>
          <p:cNvCxnSpPr/>
          <p:nvPr/>
        </p:nvCxnSpPr>
        <p:spPr>
          <a:xfrm>
            <a:off x="11753850" y="4810125"/>
            <a:ext cx="0" cy="504825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ine: Bucket rail"/>
          <p:cNvCxnSpPr/>
          <p:nvPr/>
        </p:nvCxnSpPr>
        <p:spPr>
          <a:xfrm>
            <a:off x="6438900" y="5314950"/>
            <a:ext cx="10629900" cy="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ot: Personal Hub split"/>
          <p:cNvSpPr/>
          <p:nvPr/>
        </p:nvSpPr>
        <p:spPr>
          <a:xfrm>
            <a:off x="11687175" y="5248275"/>
            <a:ext cx="133350" cy="133350"/>
          </a:xfrm>
          <a:prstGeom prst="ellipse">
            <a:avLst/>
          </a:prstGeom>
          <a:solidFill>
            <a:srgbClr val="1E3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Line: to Bills"/>
          <p:cNvCxnSpPr/>
          <p:nvPr/>
        </p:nvCxnSpPr>
        <p:spPr>
          <a:xfrm>
            <a:off x="6438900" y="5314950"/>
            <a:ext cx="0" cy="504825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rd: Bills"/>
          <p:cNvSpPr/>
          <p:nvPr/>
        </p:nvSpPr>
        <p:spPr>
          <a:xfrm>
            <a:off x="4819650" y="5819775"/>
            <a:ext cx="3238500" cy="2552700"/>
          </a:xfrm>
          <a:prstGeom prst="roundRect">
            <a:avLst>
              <a:gd name="adj" fmla="val 8208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BILLS</a:t>
            </a:r>
          </a:p>
        </p:txBody>
      </p:sp>
      <p:cxnSp>
        <p:nvCxnSpPr>
          <p:cNvPr id="21" name="Line: to Spending"/>
          <p:cNvCxnSpPr/>
          <p:nvPr/>
        </p:nvCxnSpPr>
        <p:spPr>
          <a:xfrm>
            <a:off x="9982200" y="5314950"/>
            <a:ext cx="0" cy="504825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rd: Spending"/>
          <p:cNvSpPr/>
          <p:nvPr/>
        </p:nvSpPr>
        <p:spPr>
          <a:xfrm>
            <a:off x="8362950" y="5819775"/>
            <a:ext cx="3238500" cy="2552700"/>
          </a:xfrm>
          <a:prstGeom prst="roundRect">
            <a:avLst>
              <a:gd name="adj" fmla="val 8208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SPENDING</a:t>
            </a:r>
          </a:p>
        </p:txBody>
      </p:sp>
      <p:cxnSp>
        <p:nvCxnSpPr>
          <p:cNvPr id="23" name="Line: to Upcoming"/>
          <p:cNvCxnSpPr/>
          <p:nvPr/>
        </p:nvCxnSpPr>
        <p:spPr>
          <a:xfrm>
            <a:off x="13525500" y="5314950"/>
            <a:ext cx="0" cy="504825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rd: Upcoming"/>
          <p:cNvSpPr/>
          <p:nvPr/>
        </p:nvSpPr>
        <p:spPr>
          <a:xfrm>
            <a:off x="11906250" y="5819775"/>
            <a:ext cx="3238500" cy="2552700"/>
          </a:xfrm>
          <a:prstGeom prst="roundRect">
            <a:avLst>
              <a:gd name="adj" fmla="val 8208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UPCOMING</a:t>
            </a:r>
          </a:p>
        </p:txBody>
      </p:sp>
      <p:cxnSp>
        <p:nvCxnSpPr>
          <p:cNvPr id="25" name="Line: to Financial Goals"/>
          <p:cNvCxnSpPr/>
          <p:nvPr/>
        </p:nvCxnSpPr>
        <p:spPr>
          <a:xfrm>
            <a:off x="17068800" y="5314950"/>
            <a:ext cx="0" cy="504825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rd: Financial Goals"/>
          <p:cNvSpPr/>
          <p:nvPr/>
        </p:nvSpPr>
        <p:spPr>
          <a:xfrm>
            <a:off x="15449550" y="5819775"/>
            <a:ext cx="3238500" cy="2552700"/>
          </a:xfrm>
          <a:prstGeom prst="roundRect">
            <a:avLst>
              <a:gd name="adj" fmla="val 8208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FINANCIAL GOALS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33350" y="285750"/>
            <a:ext cx="12382500" cy="666750"/>
          </a:xfrm>
          <a:prstGeom prst="rect">
            <a:avLst/>
          </a:prstGeom>
          <a:noFill/>
        </p:spPr>
        <p:txBody>
          <a:bodyPr wrap="square" anchor="ctr" lIns="95250" rIns="95250" tIns="38100" bIns="38100">
            <a:spAutoFit/>
          </a:bodyPr>
          <a:lstStyle/>
          <a:p>
            <a:pPr algn="l"/>
            <a:r>
              <a:rPr sz="3400" b="1" spc="200">
                <a:solidFill>
                  <a:srgbClr val="141414"/>
                </a:solidFill>
                <a:latin typeface="Poppins"/>
              </a:rPr>
              <a:t>YOUR MONEY FLYWHEEL MAP</a:t>
            </a:r>
          </a:p>
        </p:txBody>
      </p:sp>
      <p:sp>
        <p:nvSpPr>
          <p:cNvPr id="3" name="Pill: Your map"/>
          <p:cNvSpPr/>
          <p:nvPr/>
        </p:nvSpPr>
        <p:spPr>
          <a:xfrm>
            <a:off x="17240250" y="314325"/>
            <a:ext cx="1524000" cy="485775"/>
          </a:xfrm>
          <a:prstGeom prst="roundRect">
            <a:avLst>
              <a:gd name="adj" fmla="val 50000"/>
            </a:avLst>
          </a:prstGeom>
          <a:solidFill>
            <a:srgbClr val="D9F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300" b="1" spc="250">
                <a:solidFill>
                  <a:srgbClr val="141414"/>
                </a:solidFill>
                <a:latin typeface="Poppins"/>
              </a:rPr>
              <a:t>YOUR MAP</a:t>
            </a:r>
          </a:p>
        </p:txBody>
      </p:sp>
      <p:sp>
        <p:nvSpPr>
          <p:cNvPr id="4" name="Card: Revenue"/>
          <p:cNvSpPr/>
          <p:nvPr/>
        </p:nvSpPr>
        <p:spPr>
          <a:xfrm>
            <a:off x="628650" y="1428750"/>
            <a:ext cx="2581275" cy="971550"/>
          </a:xfrm>
          <a:prstGeom prst="roundRect">
            <a:avLst>
              <a:gd name="adj" fmla="val 21568"/>
            </a:avLst>
          </a:prstGeom>
          <a:solidFill>
            <a:srgbClr val="0B1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700" b="1" spc="450">
                <a:solidFill>
                  <a:srgbClr val="FFFFFF"/>
                </a:solidFill>
                <a:latin typeface="Poppins"/>
              </a:rPr>
              <a:t>REVENUE</a:t>
            </a:r>
          </a:p>
        </p:txBody>
      </p:sp>
      <p:sp>
        <p:nvSpPr>
          <p:cNvPr id="5" name="Card: Biz Hub"/>
          <p:cNvSpPr/>
          <p:nvPr/>
        </p:nvSpPr>
        <p:spPr>
          <a:xfrm>
            <a:off x="304800" y="3400425"/>
            <a:ext cx="3228975" cy="1409700"/>
          </a:xfrm>
          <a:prstGeom prst="roundRect">
            <a:avLst>
              <a:gd name="adj" fmla="val 14864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BIZ HUB</a:t>
            </a:r>
          </a:p>
        </p:txBody>
      </p:sp>
      <p:sp>
        <p:nvSpPr>
          <p:cNvPr id="6" name="Card: Taxes"/>
          <p:cNvSpPr/>
          <p:nvPr/>
        </p:nvSpPr>
        <p:spPr>
          <a:xfrm>
            <a:off x="304800" y="5819775"/>
            <a:ext cx="3228975" cy="1209675"/>
          </a:xfrm>
          <a:prstGeom prst="roundRect">
            <a:avLst>
              <a:gd name="adj" fmla="val 17322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TAXES</a:t>
            </a:r>
          </a:p>
        </p:txBody>
      </p:sp>
      <p:cxnSp>
        <p:nvCxnSpPr>
          <p:cNvPr id="7" name="Line: Revenue to Biz Hub"/>
          <p:cNvCxnSpPr/>
          <p:nvPr/>
        </p:nvCxnSpPr>
        <p:spPr>
          <a:xfrm>
            <a:off x="1919287" y="2400300"/>
            <a:ext cx="0" cy="1000125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ot: Revenue to Biz Hub"/>
          <p:cNvSpPr/>
          <p:nvPr/>
        </p:nvSpPr>
        <p:spPr>
          <a:xfrm>
            <a:off x="1852612" y="2828925"/>
            <a:ext cx="133350" cy="133350"/>
          </a:xfrm>
          <a:prstGeom prst="ellipse">
            <a:avLst/>
          </a:prstGeom>
          <a:solidFill>
            <a:srgbClr val="1E3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Line: Biz Hub to Taxes"/>
          <p:cNvCxnSpPr/>
          <p:nvPr/>
        </p:nvCxnSpPr>
        <p:spPr>
          <a:xfrm>
            <a:off x="1919287" y="4810125"/>
            <a:ext cx="0" cy="100965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ot: Biz Hub to Taxes"/>
          <p:cNvSpPr/>
          <p:nvPr/>
        </p:nvSpPr>
        <p:spPr>
          <a:xfrm>
            <a:off x="1852612" y="5248275"/>
            <a:ext cx="133350" cy="133350"/>
          </a:xfrm>
          <a:prstGeom prst="ellipse">
            <a:avLst/>
          </a:prstGeom>
          <a:solidFill>
            <a:srgbClr val="1E3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Line: Pay yourself"/>
          <p:cNvCxnSpPr/>
          <p:nvPr/>
        </p:nvCxnSpPr>
        <p:spPr>
          <a:xfrm>
            <a:off x="3533775" y="4105275"/>
            <a:ext cx="6581775" cy="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Arrow: Pay yourself top"/>
          <p:cNvCxnSpPr/>
          <p:nvPr/>
        </p:nvCxnSpPr>
        <p:spPr>
          <a:xfrm>
            <a:off x="9993630" y="3990975"/>
            <a:ext cx="121920" cy="11430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Arrow: Pay yourself bottom"/>
          <p:cNvCxnSpPr/>
          <p:nvPr/>
        </p:nvCxnSpPr>
        <p:spPr>
          <a:xfrm flipV="1">
            <a:off x="9993630" y="4105275"/>
            <a:ext cx="121920" cy="11430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abel: Pay yourself"/>
          <p:cNvSpPr txBox="1"/>
          <p:nvPr/>
        </p:nvSpPr>
        <p:spPr>
          <a:xfrm>
            <a:off x="4914900" y="3695700"/>
            <a:ext cx="3810000" cy="342900"/>
          </a:xfrm>
          <a:prstGeom prst="rect">
            <a:avLst/>
          </a:prstGeom>
          <a:noFill/>
        </p:spPr>
        <p:txBody>
          <a:bodyPr wrap="square" anchor="ctr" lIns="95250" rIns="95250" tIns="38100" bIns="38100">
            <a:spAutoFit/>
          </a:bodyPr>
          <a:lstStyle/>
          <a:p>
            <a:pPr algn="ctr"/>
            <a:r>
              <a:rPr sz="1250" b="1" spc="350">
                <a:solidFill>
                  <a:srgbClr val="1E3AB8"/>
                </a:solidFill>
                <a:latin typeface="Poppins"/>
              </a:rPr>
              <a:t>PAY YOURSELF</a:t>
            </a:r>
          </a:p>
        </p:txBody>
      </p:sp>
      <p:sp>
        <p:nvSpPr>
          <p:cNvPr id="15" name="Card: Personal Hub"/>
          <p:cNvSpPr/>
          <p:nvPr/>
        </p:nvSpPr>
        <p:spPr>
          <a:xfrm>
            <a:off x="10134600" y="3400425"/>
            <a:ext cx="3238500" cy="1409700"/>
          </a:xfrm>
          <a:prstGeom prst="roundRect">
            <a:avLst>
              <a:gd name="adj" fmla="val 14864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PERSONAL HUB</a:t>
            </a:r>
          </a:p>
        </p:txBody>
      </p:sp>
      <p:cxnSp>
        <p:nvCxnSpPr>
          <p:cNvPr id="16" name="Line: Personal Hub down"/>
          <p:cNvCxnSpPr/>
          <p:nvPr/>
        </p:nvCxnSpPr>
        <p:spPr>
          <a:xfrm>
            <a:off x="11753850" y="4810125"/>
            <a:ext cx="0" cy="504825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ine: Bucket rail"/>
          <p:cNvCxnSpPr/>
          <p:nvPr/>
        </p:nvCxnSpPr>
        <p:spPr>
          <a:xfrm>
            <a:off x="6438900" y="5314950"/>
            <a:ext cx="10629900" cy="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ot: Personal Hub split"/>
          <p:cNvSpPr/>
          <p:nvPr/>
        </p:nvSpPr>
        <p:spPr>
          <a:xfrm>
            <a:off x="11687175" y="5248275"/>
            <a:ext cx="133350" cy="133350"/>
          </a:xfrm>
          <a:prstGeom prst="ellipse">
            <a:avLst/>
          </a:prstGeom>
          <a:solidFill>
            <a:srgbClr val="1E3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Line: to Bills"/>
          <p:cNvCxnSpPr/>
          <p:nvPr/>
        </p:nvCxnSpPr>
        <p:spPr>
          <a:xfrm>
            <a:off x="6438900" y="5314950"/>
            <a:ext cx="0" cy="504825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rd: Bills"/>
          <p:cNvSpPr/>
          <p:nvPr/>
        </p:nvSpPr>
        <p:spPr>
          <a:xfrm>
            <a:off x="4819650" y="5819775"/>
            <a:ext cx="3238500" cy="2552700"/>
          </a:xfrm>
          <a:prstGeom prst="roundRect">
            <a:avLst>
              <a:gd name="adj" fmla="val 8208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BILLS</a:t>
            </a:r>
          </a:p>
        </p:txBody>
      </p:sp>
      <p:cxnSp>
        <p:nvCxnSpPr>
          <p:cNvPr id="21" name="Line: to Spending"/>
          <p:cNvCxnSpPr/>
          <p:nvPr/>
        </p:nvCxnSpPr>
        <p:spPr>
          <a:xfrm>
            <a:off x="9982200" y="5314950"/>
            <a:ext cx="0" cy="504825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rd: Spending"/>
          <p:cNvSpPr/>
          <p:nvPr/>
        </p:nvSpPr>
        <p:spPr>
          <a:xfrm>
            <a:off x="8362950" y="5819775"/>
            <a:ext cx="3238500" cy="2552700"/>
          </a:xfrm>
          <a:prstGeom prst="roundRect">
            <a:avLst>
              <a:gd name="adj" fmla="val 8208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SPENDING</a:t>
            </a:r>
          </a:p>
        </p:txBody>
      </p:sp>
      <p:cxnSp>
        <p:nvCxnSpPr>
          <p:cNvPr id="23" name="Line: to Upcoming"/>
          <p:cNvCxnSpPr/>
          <p:nvPr/>
        </p:nvCxnSpPr>
        <p:spPr>
          <a:xfrm>
            <a:off x="13525500" y="5314950"/>
            <a:ext cx="0" cy="504825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rd: Upcoming"/>
          <p:cNvSpPr/>
          <p:nvPr/>
        </p:nvSpPr>
        <p:spPr>
          <a:xfrm>
            <a:off x="11906250" y="5819775"/>
            <a:ext cx="3238500" cy="2552700"/>
          </a:xfrm>
          <a:prstGeom prst="roundRect">
            <a:avLst>
              <a:gd name="adj" fmla="val 8208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UPCOMING</a:t>
            </a:r>
          </a:p>
        </p:txBody>
      </p:sp>
      <p:cxnSp>
        <p:nvCxnSpPr>
          <p:cNvPr id="25" name="Line: to Financial Goals"/>
          <p:cNvCxnSpPr/>
          <p:nvPr/>
        </p:nvCxnSpPr>
        <p:spPr>
          <a:xfrm>
            <a:off x="17068800" y="5314950"/>
            <a:ext cx="0" cy="504825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rd: Financial Goals"/>
          <p:cNvSpPr/>
          <p:nvPr/>
        </p:nvSpPr>
        <p:spPr>
          <a:xfrm>
            <a:off x="15449550" y="5819775"/>
            <a:ext cx="3238500" cy="2552700"/>
          </a:xfrm>
          <a:prstGeom prst="roundRect">
            <a:avLst>
              <a:gd name="adj" fmla="val 8208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FINANCIAL GOALS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33350" y="285750"/>
            <a:ext cx="12382500" cy="666750"/>
          </a:xfrm>
          <a:prstGeom prst="rect">
            <a:avLst/>
          </a:prstGeom>
          <a:noFill/>
        </p:spPr>
        <p:txBody>
          <a:bodyPr wrap="square" anchor="ctr" lIns="95250" rIns="95250" tIns="38100" bIns="38100">
            <a:spAutoFit/>
          </a:bodyPr>
          <a:lstStyle/>
          <a:p>
            <a:pPr algn="l"/>
            <a:r>
              <a:rPr sz="3400" b="1" spc="200">
                <a:solidFill>
                  <a:srgbClr val="141414"/>
                </a:solidFill>
                <a:latin typeface="Poppins"/>
              </a:rPr>
              <a:t>SPARE PARTS</a:t>
            </a:r>
          </a:p>
        </p:txBody>
      </p:sp>
      <p:sp>
        <p:nvSpPr>
          <p:cNvPr id="3" name="Note"/>
          <p:cNvSpPr txBox="1"/>
          <p:nvPr/>
        </p:nvSpPr>
        <p:spPr>
          <a:xfrm>
            <a:off x="228600" y="952500"/>
            <a:ext cx="14287500" cy="381000"/>
          </a:xfrm>
          <a:prstGeom prst="rect">
            <a:avLst/>
          </a:prstGeom>
          <a:noFill/>
        </p:spPr>
        <p:txBody>
          <a:bodyPr wrap="square" anchor="t" lIns="95250" rIns="95250" tIns="38100" bIns="38100">
            <a:spAutoFit/>
          </a:bodyPr>
          <a:lstStyle/>
          <a:p>
            <a:pPr algn="l"/>
            <a:r>
              <a:rPr sz="1200" b="1" spc="50">
                <a:solidFill>
                  <a:srgbClr val="141414"/>
                </a:solidFill>
                <a:latin typeface="Poppins"/>
              </a:rPr>
              <a:t>Copy these onto the map to add accounts. Hold Shift while dragging a line end to keep it straight.</a:t>
            </a:r>
          </a:p>
        </p:txBody>
      </p:sp>
      <p:sp>
        <p:nvSpPr>
          <p:cNvPr id="4" name="Card: Hub size"/>
          <p:cNvSpPr/>
          <p:nvPr/>
        </p:nvSpPr>
        <p:spPr>
          <a:xfrm>
            <a:off x="381000" y="1714500"/>
            <a:ext cx="3238500" cy="1409700"/>
          </a:xfrm>
          <a:prstGeom prst="roundRect">
            <a:avLst>
              <a:gd name="adj" fmla="val 14864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NEW HUB</a:t>
            </a:r>
          </a:p>
        </p:txBody>
      </p:sp>
      <p:sp>
        <p:nvSpPr>
          <p:cNvPr id="5" name="Card: Bucket size"/>
          <p:cNvSpPr/>
          <p:nvPr/>
        </p:nvSpPr>
        <p:spPr>
          <a:xfrm>
            <a:off x="4191000" y="1714500"/>
            <a:ext cx="3238500" cy="2552700"/>
          </a:xfrm>
          <a:prstGeom prst="roundRect">
            <a:avLst>
              <a:gd name="adj" fmla="val 8208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NEW BUCKET</a:t>
            </a:r>
          </a:p>
        </p:txBody>
      </p:sp>
      <p:sp>
        <p:nvSpPr>
          <p:cNvPr id="6" name="Card: Small size"/>
          <p:cNvSpPr/>
          <p:nvPr/>
        </p:nvSpPr>
        <p:spPr>
          <a:xfrm>
            <a:off x="8001000" y="1714500"/>
            <a:ext cx="3228975" cy="1209675"/>
          </a:xfrm>
          <a:prstGeom prst="roundRect">
            <a:avLst>
              <a:gd name="adj" fmla="val 17322"/>
            </a:avLst>
          </a:prstGeom>
          <a:solidFill>
            <a:srgbClr val="FFFFFF"/>
          </a:solidFill>
          <a:ln w="28575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800" b="1" spc="450">
                <a:solidFill>
                  <a:srgbClr val="141414"/>
                </a:solidFill>
                <a:latin typeface="Poppins"/>
              </a:rPr>
              <a:t>NEW ACCOUNT</a:t>
            </a:r>
          </a:p>
        </p:txBody>
      </p:sp>
      <p:sp>
        <p:nvSpPr>
          <p:cNvPr id="7" name="Card: Navy"/>
          <p:cNvSpPr/>
          <p:nvPr/>
        </p:nvSpPr>
        <p:spPr>
          <a:xfrm>
            <a:off x="11811000" y="1714500"/>
            <a:ext cx="2581275" cy="971550"/>
          </a:xfrm>
          <a:prstGeom prst="roundRect">
            <a:avLst>
              <a:gd name="adj" fmla="val 21568"/>
            </a:avLst>
          </a:prstGeom>
          <a:solidFill>
            <a:srgbClr val="0B1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700" b="1" spc="450">
                <a:solidFill>
                  <a:srgbClr val="FFFFFF"/>
                </a:solidFill>
                <a:latin typeface="Poppins"/>
              </a:rPr>
              <a:t>INCOME</a:t>
            </a:r>
          </a:p>
        </p:txBody>
      </p:sp>
      <p:sp>
        <p:nvSpPr>
          <p:cNvPr id="8" name="Pill: Lime"/>
          <p:cNvSpPr/>
          <p:nvPr/>
        </p:nvSpPr>
        <p:spPr>
          <a:xfrm>
            <a:off x="15049500" y="1714500"/>
            <a:ext cx="1524000" cy="485775"/>
          </a:xfrm>
          <a:prstGeom prst="roundRect">
            <a:avLst>
              <a:gd name="adj" fmla="val 50000"/>
            </a:avLst>
          </a:prstGeom>
          <a:solidFill>
            <a:srgbClr val="D9F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300" b="1" spc="250">
                <a:solidFill>
                  <a:srgbClr val="141414"/>
                </a:solidFill>
                <a:latin typeface="Poppins"/>
              </a:rPr>
              <a:t>YOUR MAP</a:t>
            </a:r>
          </a:p>
        </p:txBody>
      </p:sp>
      <p:cxnSp>
        <p:nvCxnSpPr>
          <p:cNvPr id="9" name="Line: horizontal"/>
          <p:cNvCxnSpPr/>
          <p:nvPr/>
        </p:nvCxnSpPr>
        <p:spPr>
          <a:xfrm>
            <a:off x="381000" y="5334000"/>
            <a:ext cx="4381500" cy="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Arrow: horizontal top"/>
          <p:cNvCxnSpPr/>
          <p:nvPr/>
        </p:nvCxnSpPr>
        <p:spPr>
          <a:xfrm>
            <a:off x="4640580" y="5219700"/>
            <a:ext cx="121920" cy="11430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Arrow: horizontal bottom"/>
          <p:cNvCxnSpPr/>
          <p:nvPr/>
        </p:nvCxnSpPr>
        <p:spPr>
          <a:xfrm flipV="1">
            <a:off x="4640580" y="5334000"/>
            <a:ext cx="121920" cy="11430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abel: flow"/>
          <p:cNvSpPr txBox="1"/>
          <p:nvPr/>
        </p:nvSpPr>
        <p:spPr>
          <a:xfrm>
            <a:off x="1143000" y="4924425"/>
            <a:ext cx="2857500" cy="342900"/>
          </a:xfrm>
          <a:prstGeom prst="rect">
            <a:avLst/>
          </a:prstGeom>
          <a:noFill/>
        </p:spPr>
        <p:txBody>
          <a:bodyPr wrap="square" anchor="ctr" lIns="95250" rIns="95250" tIns="38100" bIns="38100">
            <a:spAutoFit/>
          </a:bodyPr>
          <a:lstStyle/>
          <a:p>
            <a:pPr algn="ctr"/>
            <a:r>
              <a:rPr sz="1250" b="1" spc="350">
                <a:solidFill>
                  <a:srgbClr val="1E3AB8"/>
                </a:solidFill>
                <a:latin typeface="Poppins"/>
              </a:rPr>
              <a:t>FLOW LABEL</a:t>
            </a:r>
          </a:p>
        </p:txBody>
      </p:sp>
      <p:cxnSp>
        <p:nvCxnSpPr>
          <p:cNvPr id="13" name="Line: vertical"/>
          <p:cNvCxnSpPr/>
          <p:nvPr/>
        </p:nvCxnSpPr>
        <p:spPr>
          <a:xfrm>
            <a:off x="5905500" y="4762500"/>
            <a:ext cx="0" cy="133350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Dot"/>
          <p:cNvSpPr/>
          <p:nvPr/>
        </p:nvSpPr>
        <p:spPr>
          <a:xfrm>
            <a:off x="5838825" y="5362575"/>
            <a:ext cx="133350" cy="133350"/>
          </a:xfrm>
          <a:prstGeom prst="ellipse">
            <a:avLst/>
          </a:prstGeom>
          <a:solidFill>
            <a:srgbClr val="1E3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Line: plain vertical"/>
          <p:cNvCxnSpPr/>
          <p:nvPr/>
        </p:nvCxnSpPr>
        <p:spPr>
          <a:xfrm>
            <a:off x="7048500" y="4762500"/>
            <a:ext cx="0" cy="1333500"/>
          </a:xfrm>
          <a:prstGeom prst="line">
            <a:avLst/>
          </a:prstGeom>
          <a:ln w="28575">
            <a:solidFill>
              <a:srgbClr val="1E3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ot: spare"/>
          <p:cNvSpPr/>
          <p:nvPr/>
        </p:nvSpPr>
        <p:spPr>
          <a:xfrm>
            <a:off x="8124825" y="5362575"/>
            <a:ext cx="133350" cy="133350"/>
          </a:xfrm>
          <a:prstGeom prst="ellipse">
            <a:avLst/>
          </a:prstGeom>
          <a:solidFill>
            <a:srgbClr val="1E3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